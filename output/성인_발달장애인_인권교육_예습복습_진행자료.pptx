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jpg"/><Relationship Id="rId3" Type="http://schemas.openxmlformats.org/officeDocument/2006/relationships/image" Target="../media/image-1-3.jpg"/><Relationship Id="rId4" Type="http://schemas.openxmlformats.org/officeDocument/2006/relationships/image" Target="../media/image-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image" Target="../media/image-7-3.jpg"/><Relationship Id="rId4" Type="http://schemas.openxmlformats.org/officeDocument/2006/relationships/image" Target="../media/image-7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image" Target="../media/image-12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image" Target="../media/image-16-2.jpg"/><Relationship Id="rId3" Type="http://schemas.openxmlformats.org/officeDocument/2006/relationships/image" Target="../media/image-16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image" Target="../media/image-20-2.jpg"/><Relationship Id="rId3" Type="http://schemas.openxmlformats.org/officeDocument/2006/relationships/image" Target="../media/image-20-3.jpg"/><Relationship Id="rId4" Type="http://schemas.openxmlformats.org/officeDocument/2006/relationships/image" Target="../media/image-2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image" Target="../media/image-23-2.jpg"/><Relationship Id="rId3" Type="http://schemas.openxmlformats.org/officeDocument/2006/relationships/image" Target="../media/image-23-3.jpg"/><Relationship Id="rId4" Type="http://schemas.openxmlformats.org/officeDocument/2006/relationships/image" Target="../media/image-23-4.jpg"/><Relationship Id="rId5" Type="http://schemas.openxmlformats.org/officeDocument/2006/relationships/image" Target="../media/image-23-5.jpg"/><Relationship Id="rId6" Type="http://schemas.openxmlformats.org/officeDocument/2006/relationships/image" Target="../media/image-23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image" Target="../media/image-2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2344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인권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이해하기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94944" y="3246120"/>
            <a:ext cx="5120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예습·복습 진행자료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주간보호 이용자 인권교육 담당자 진행용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13232" y="4754880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4910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93392" y="4754880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84832" y="4910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73552" y="4754880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4910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53712" y="4754880"/>
            <a:ext cx="1143000" cy="530352"/>
          </a:xfrm>
          <a:prstGeom prst="roundRect">
            <a:avLst>
              <a:gd name="adj" fmla="val 13793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4910328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0" y="713232"/>
            <a:ext cx="2423160" cy="2331720"/>
          </a:xfrm>
          <a:prstGeom prst="roundRect">
            <a:avLst>
              <a:gd name="adj" fmla="val 2353"/>
            </a:avLst>
          </a:prstGeom>
          <a:solidFill>
            <a:srgbClr val="DFF5E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06540" y="859536"/>
            <a:ext cx="2011680" cy="1563624"/>
          </a:xfrm>
          <a:prstGeom prst="roundRect">
            <a:avLst>
              <a:gd name="adj" fmla="val 2339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7" name="Image 0" descr="C:\Users\user\Desktop\인권교육\assets\cards\choiceM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33972" y="886968"/>
            <a:ext cx="1956816" cy="1508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10528" y="2633472"/>
            <a:ext cx="2203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골라요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006840" y="1051560"/>
            <a:ext cx="2194560" cy="2103120"/>
          </a:xfrm>
          <a:prstGeom prst="roundRect">
            <a:avLst>
              <a:gd name="adj" fmla="val 2609"/>
            </a:avLst>
          </a:prstGeom>
          <a:solidFill>
            <a:srgbClr val="E4F7DD"/>
          </a:solidFill>
          <a:ln w="20320">
            <a:solidFill>
              <a:srgbClr val="16833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212580" y="1197864"/>
            <a:ext cx="1783080" cy="1335024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1" name="Image 1" descr="C:\Users\user\Desktop\인권교육\assets\cards\safe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40012" y="1225296"/>
            <a:ext cx="1728216" cy="1280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116568" y="274320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720840" y="3383280"/>
            <a:ext cx="2194560" cy="2103120"/>
          </a:xfrm>
          <a:prstGeom prst="roundRect">
            <a:avLst>
              <a:gd name="adj" fmla="val 2609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926580" y="3529584"/>
            <a:ext cx="1783080" cy="1335024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5" name="Image 2" descr="C:\Users\user\Desktop\인권교육\assets\cards\hel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954012" y="3557016"/>
            <a:ext cx="1728216" cy="12801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30568" y="5074920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9144000" y="3657600"/>
            <a:ext cx="2057400" cy="1965960"/>
          </a:xfrm>
          <a:prstGeom prst="roundRect">
            <a:avLst>
              <a:gd name="adj" fmla="val 2791"/>
            </a:avLst>
          </a:prstGeom>
          <a:solidFill>
            <a:srgbClr val="F6EAD7"/>
          </a:solidFill>
          <a:ln w="20320">
            <a:solidFill>
              <a:srgbClr val="8A5A1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349740" y="3803904"/>
            <a:ext cx="1645920" cy="119786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9" name="Image 3" descr="C:\Users\user\Desktop\인권교육\assets\cards\respect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77172" y="3831336"/>
            <a:ext cx="1591056" cy="11430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253728" y="5212080"/>
            <a:ext cx="1837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본교육 2026.05.20 전후 예습·복습용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원칙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자료의 방향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문장, 반복 단어, 카드 선택, 역할극 중심으로 진행합니다.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58368" y="2240280"/>
            <a:ext cx="3383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정답보다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표현을 먼저 봅니다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13232" y="3657600"/>
            <a:ext cx="4754880" cy="1417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말, 손짓, 표정, 카드 선택, 고개 끄덕임을 모두 인정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위험 사례는 자세히 묘사하지 않고 안전한 대처 문장으로 마무리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10~15분마다 보기, 고르기, 붙이기, 말하기 활동을 바꾸기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44768" y="2057400"/>
            <a:ext cx="1645920" cy="1828800"/>
          </a:xfrm>
          <a:prstGeom prst="roundRect">
            <a:avLst>
              <a:gd name="adj" fmla="val 3333"/>
            </a:avLst>
          </a:prstGeom>
          <a:solidFill>
            <a:srgbClr val="DFF5E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0508" y="2203704"/>
            <a:ext cx="1234440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5" name="Image 0" descr="C:\Users\user\Desktop\인권교육\assets\cards\choiceM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77940" y="2231136"/>
            <a:ext cx="1179576" cy="100584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254496" y="34747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5280" y="2057400"/>
            <a:ext cx="1645920" cy="1828800"/>
          </a:xfrm>
          <a:prstGeom prst="roundRect">
            <a:avLst>
              <a:gd name="adj" fmla="val 3333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161020" y="2203704"/>
            <a:ext cx="1234440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9" name="Image 1" descr="C:\Users\user\Desktop\인권교육\assets\cards\hel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88452" y="2231136"/>
            <a:ext cx="1179576" cy="10058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065008" y="34747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요청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9765792" y="2057400"/>
            <a:ext cx="1645920" cy="1828800"/>
          </a:xfrm>
          <a:prstGeom prst="roundRect">
            <a:avLst>
              <a:gd name="adj" fmla="val 3333"/>
            </a:avLst>
          </a:prstGeom>
          <a:solidFill>
            <a:srgbClr val="F6EAD7"/>
          </a:solidFill>
          <a:ln w="20320">
            <a:solidFill>
              <a:srgbClr val="8A5A16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971532" y="2203704"/>
            <a:ext cx="1234440" cy="1060704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3" name="Image 2" descr="C:\Users\user\Desktop\인권교육\assets\cards\respec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998964" y="2231136"/>
            <a:ext cx="1179576" cy="10058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875520" y="347472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309360" y="4617720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400800" y="47457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818120" y="4617720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909560" y="47457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9326880" y="4617720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9418320" y="47457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835640" y="4617720"/>
            <a:ext cx="1024128" cy="475488"/>
          </a:xfrm>
          <a:prstGeom prst="roundRect">
            <a:avLst>
              <a:gd name="adj" fmla="val 15385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10927080" y="47457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계획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본교육 전 예습 2회기, 본교육 후 복습 1회기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2574036" cy="2286000"/>
          </a:xfrm>
          <a:prstGeom prst="roundRect">
            <a:avLst>
              <a:gd name="adj" fmla="val 2400"/>
            </a:avLst>
          </a:prstGeom>
          <a:solidFill>
            <a:srgbClr val="DFF5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267712"/>
            <a:ext cx="2281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2104" y="2532888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인권과 선택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" y="2990088"/>
            <a:ext cx="2281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소중해요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고를 수 있어요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24428" y="2121408"/>
            <a:ext cx="2574036" cy="2286000"/>
          </a:xfrm>
          <a:prstGeom prst="roundRect">
            <a:avLst>
              <a:gd name="adj" fmla="val 2400"/>
            </a:avLst>
          </a:prstGeom>
          <a:solidFill>
            <a:srgbClr val="E4F7DD"/>
          </a:solidFill>
          <a:ln w="19050">
            <a:solidFill>
              <a:srgbClr val="16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0732" y="2267712"/>
            <a:ext cx="2281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70732" y="2532888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존중과 안전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570732" y="2990088"/>
            <a:ext cx="2281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몸과 마음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안전·위험 구분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63056" y="2121408"/>
            <a:ext cx="2574036" cy="2286000"/>
          </a:xfrm>
          <a:prstGeom prst="roundRect">
            <a:avLst>
              <a:gd name="adj" fmla="val 2400"/>
            </a:avLst>
          </a:prstGeom>
          <a:solidFill>
            <a:srgbClr val="F6EAD7"/>
          </a:solidFill>
          <a:ln w="19050">
            <a:solidFill>
              <a:srgbClr val="8A5A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267712"/>
            <a:ext cx="2281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본교육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532888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강사 본교육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9360" y="2990088"/>
            <a:ext cx="2281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2026.05.20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내용 경험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01684" y="2121408"/>
            <a:ext cx="2574036" cy="2286000"/>
          </a:xfrm>
          <a:prstGeom prst="roundRect">
            <a:avLst>
              <a:gd name="adj" fmla="val 2400"/>
            </a:avLst>
          </a:prstGeom>
          <a:solidFill>
            <a:srgbClr val="E4EDFF"/>
          </a:solidFill>
          <a:ln w="19050">
            <a:solidFill>
              <a:srgbClr val="285E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47988" y="2267712"/>
            <a:ext cx="22814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047988" y="2532888"/>
            <a:ext cx="22814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표현과 실천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47988" y="2990088"/>
            <a:ext cx="228142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싫어요·안 돼요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5074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문장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2057400" y="491947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48840" y="5084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골라도 돼요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43400" y="491947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34840" y="5084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위험하면 알려요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29400" y="4919472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20840" y="508406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686800" y="4919472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50840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너도 존중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예습 1: 인권과 선택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76656" y="226771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441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5212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소중한 사람입니다.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소중한 사람은 고를 수 있어요.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12280" y="1005840"/>
            <a:ext cx="3566160" cy="3401568"/>
          </a:xfrm>
          <a:prstGeom prst="roundRect">
            <a:avLst>
              <a:gd name="adj" fmla="val 1613"/>
            </a:avLst>
          </a:prstGeom>
          <a:solidFill>
            <a:srgbClr val="DFF5E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18020" y="1152144"/>
            <a:ext cx="3154680" cy="2633472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1" name="Image 0" descr="C:\Users\user\Desktop\인권교육\assets\cards\choiceMe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5452" y="1179576"/>
            <a:ext cx="3099816" cy="2578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22008" y="399592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가지 단어만 크게 보여 주세요.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 / 소중해요 / 선택 / 좋아요 / 싫어요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214884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소중해요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49808" y="3657600"/>
            <a:ext cx="1874520" cy="566928"/>
          </a:xfrm>
          <a:prstGeom prst="roundRect">
            <a:avLst>
              <a:gd name="adj" fmla="val 12903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831336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골라요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52928" y="365760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3831336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715000" y="18745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0320">
            <a:solidFill>
              <a:srgbClr val="D6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20740" y="2020824"/>
            <a:ext cx="1069848" cy="83210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8" name="Image 0" descr="C:\Users\user\Desktop\인권교육\assets\cards\foo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8172" y="2048256"/>
            <a:ext cx="1014984" cy="777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24728" y="306324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360920" y="18745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0320">
            <a:solidFill>
              <a:srgbClr val="D6DDD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566660" y="2020824"/>
            <a:ext cx="1069848" cy="83210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2" name="Image 1" descr="C:\Users\user\Desktop\인권교육\assets\cards\cloth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594092" y="2048256"/>
            <a:ext cx="1014984" cy="7772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470648" y="306324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9006840" y="187452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0320">
            <a:solidFill>
              <a:srgbClr val="D6DDD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9212580" y="2020824"/>
            <a:ext cx="1069848" cy="83210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6" name="Image 2" descr="C:\Users\user\Desktop\인권교육\assets\cards\sea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240012" y="2048256"/>
            <a:ext cx="1014984" cy="77724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16568" y="306324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537960" y="388620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0320">
            <a:solidFill>
              <a:srgbClr val="D6DDD8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743700" y="4032504"/>
            <a:ext cx="1069848" cy="83210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30" name="Image 3" descr="C:\Users\user\Desktop\인권교육\assets\cards\activit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771132" y="4059936"/>
            <a:ext cx="1014984" cy="7772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647688" y="50749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8229600" y="3886200"/>
            <a:ext cx="1481328" cy="1600200"/>
          </a:xfrm>
          <a:prstGeom prst="roundRect">
            <a:avLst>
              <a:gd name="adj" fmla="val 3704"/>
            </a:avLst>
          </a:prstGeom>
          <a:solidFill>
            <a:srgbClr val="E4F7DD"/>
          </a:solidFill>
          <a:ln w="20320">
            <a:solidFill>
              <a:srgbClr val="16833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435340" y="4032504"/>
            <a:ext cx="1069848" cy="832104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34" name="Image 4" descr="C:\Users\user\Desktop\인권교육\assets\cards\completeCheck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62772" y="4059936"/>
            <a:ext cx="1014984" cy="77724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8339328" y="5074920"/>
            <a:ext cx="1261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표현했어요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 진행 흐름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45~50분 권장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DFF5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인사와 오늘 단어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오늘은 나와 선택을 배워요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67558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F6EAD7"/>
          </a:solidFill>
          <a:ln w="19050">
            <a:solidFill>
              <a:srgbClr val="8A5A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3862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3862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소중해요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3862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부르기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 카드 고르기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6749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3053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23053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카드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23053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음식·옷·활동·자리 중 선택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85939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E4EDFF"/>
          </a:solidFill>
          <a:ln w="19050">
            <a:solidFill>
              <a:srgbClr val="285E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2243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32243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이유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2243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/ 편해요 / 하고 싶어요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5130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E4F7DD"/>
          </a:solidFill>
          <a:ln w="19050">
            <a:solidFill>
              <a:srgbClr val="168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1434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41434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41434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골라도 돼요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52852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포인트: 스스로 고르는지, 말·표정·카드 선택으로 표현하는지 봅니다.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카드 활동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음식, 옷, 자리, 활동 중 하나를 고릅니다.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14884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DFF5E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" y="2295144"/>
            <a:ext cx="1508760" cy="119786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3" name="Image 0" descr="C:\Users\user\Desktop\인권교육\assets\cards\bibimbap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6404" y="2322576"/>
            <a:ext cx="1453896" cy="11430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370332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816352" y="214884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022092" y="2295144"/>
            <a:ext cx="1508760" cy="119786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7" name="Image 1" descr="C:\Users\user\Desktop\인권교육\assets\cards\jean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049524" y="2322576"/>
            <a:ext cx="1453896" cy="1143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370332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4919472" y="214884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125212" y="2295144"/>
            <a:ext cx="1508760" cy="119786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1" name="Image 2" descr="C:\Users\user\Desktop\인권교육\assets\cards\sofa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152644" y="2322576"/>
            <a:ext cx="1453896" cy="11430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29200" y="370332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7022592" y="2148840"/>
            <a:ext cx="1920240" cy="19659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228332" y="2295144"/>
            <a:ext cx="1508760" cy="1197864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5" name="Image 3" descr="C:\Users\user\Desktop\인권교육\assets\cards\drawing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255764" y="2322576"/>
            <a:ext cx="1453896" cy="11430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3703320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9326880" y="228600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418320" y="24871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골랐어요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9326880" y="3154680"/>
            <a:ext cx="1783080" cy="621792"/>
          </a:xfrm>
          <a:prstGeom prst="roundRect">
            <a:avLst>
              <a:gd name="adj" fmla="val 11765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418320" y="33558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표현했어요</a:t>
            </a:r>
            <a:endParaRPr lang="en-US" sz="1600" dirty="0"/>
          </a:p>
        </p:txBody>
      </p:sp>
      <p:sp>
        <p:nvSpPr>
          <p:cNvPr id="31" name="Text 25"/>
          <p:cNvSpPr/>
          <p:nvPr/>
        </p:nvSpPr>
        <p:spPr>
          <a:xfrm>
            <a:off x="786384" y="4873752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진행자 멘트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“오늘은 맞히는 시간이 아니에요.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고르는 시간이에요.”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이용자별 지원 포인트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 방식이 달라도 모두 의사표현으로 인정합니다.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148840"/>
            <a:ext cx="10607040" cy="920496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D6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26771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DFF5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7744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소통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67712"/>
            <a:ext cx="3886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이유를 질문하고 일상 사례로 연결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2267712"/>
            <a:ext cx="489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말함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124200"/>
            <a:ext cx="10607040" cy="920496"/>
          </a:xfrm>
          <a:prstGeom prst="roundRect">
            <a:avLst>
              <a:gd name="adj" fmla="val 3974"/>
            </a:avLst>
          </a:prstGeom>
          <a:solidFill>
            <a:srgbClr val="F7FBF8"/>
          </a:solidFill>
          <a:ln w="12700">
            <a:solidFill>
              <a:srgbClr val="D6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24307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4EDFF"/>
          </a:solidFill>
          <a:ln w="19050">
            <a:solidFill>
              <a:srgbClr val="285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280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자료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243072"/>
            <a:ext cx="3886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 카드 2개 중 고르게 하고 핵심 단어 반복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3243072"/>
            <a:ext cx="489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손가락·시선 선택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099560"/>
            <a:ext cx="10607040" cy="920496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D6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21843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F6EAD7"/>
          </a:solidFill>
          <a:ln w="19050">
            <a:solidFill>
              <a:srgbClr val="8A5A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2816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감각·보조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4218432"/>
            <a:ext cx="3886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카드, 영상 단서, 옆자리 지원 활용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4218432"/>
            <a:ext cx="489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잡기·끄덕임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486400"/>
            <a:ext cx="822960" cy="420624"/>
          </a:xfrm>
          <a:prstGeom prst="roundRect">
            <a:avLst>
              <a:gd name="adj" fmla="val 17391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869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901952" y="5486400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93392" y="55869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999232" y="5486400"/>
            <a:ext cx="914400" cy="420624"/>
          </a:xfrm>
          <a:prstGeom prst="roundRect">
            <a:avLst>
              <a:gd name="adj" fmla="val 17391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558698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표정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096512" y="5486400"/>
            <a:ext cx="1234440" cy="420624"/>
          </a:xfrm>
          <a:prstGeom prst="roundRect">
            <a:avLst>
              <a:gd name="adj" fmla="val 17391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87952" y="558698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선택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522976" y="5486400"/>
            <a:ext cx="1417320" cy="420624"/>
          </a:xfrm>
          <a:prstGeom prst="roundRect">
            <a:avLst>
              <a:gd name="adj" fmla="val 17391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5586984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고개 끄덕임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예습 2: 존중과 안전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76656" y="226771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441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5212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소중하고 다른 사람도 소중해요.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위험하면 도움을 요청해요.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12280" y="1005840"/>
            <a:ext cx="3566160" cy="3401568"/>
          </a:xfrm>
          <a:prstGeom prst="roundRect">
            <a:avLst>
              <a:gd name="adj" fmla="val 1613"/>
            </a:avLst>
          </a:prstGeom>
          <a:solidFill>
            <a:srgbClr val="DFF5E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18020" y="1152144"/>
            <a:ext cx="3154680" cy="2633472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1" name="Image 0" descr="C:\Users\user\Desktop\인권교육\assets\cards\saf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5452" y="1179576"/>
            <a:ext cx="3099816" cy="2578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22008" y="399592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가지 단어만 크게 보여 주세요.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 / 내 몸 / 안전 / 위험 / 도움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2148840"/>
            <a:ext cx="28346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몸은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소중해요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749808" y="3703320"/>
            <a:ext cx="1901952" cy="530352"/>
          </a:xfrm>
          <a:prstGeom prst="roundRect">
            <a:avLst>
              <a:gd name="adj" fmla="val 1379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38587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소중해요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52928" y="3703320"/>
            <a:ext cx="2395728" cy="530352"/>
          </a:xfrm>
          <a:prstGeom prst="roundRect">
            <a:avLst>
              <a:gd name="adj" fmla="val 1379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4368" y="3858768"/>
            <a:ext cx="22128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사람도 소중해요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760720" y="2057400"/>
            <a:ext cx="1828800" cy="1874520"/>
          </a:xfrm>
          <a:prstGeom prst="roundRect">
            <a:avLst>
              <a:gd name="adj" fmla="val 3000"/>
            </a:avLst>
          </a:prstGeom>
          <a:solidFill>
            <a:srgbClr val="E4F7DD"/>
          </a:solidFill>
          <a:ln w="20320">
            <a:solidFill>
              <a:srgbClr val="16833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66460" y="2203704"/>
            <a:ext cx="1417320" cy="1106424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8" name="Image 0" descr="C:\Users\user\Desktop\인권교육\assets\cards\saf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93892" y="2231136"/>
            <a:ext cx="1362456" cy="105156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870448" y="352044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818120" y="2057400"/>
            <a:ext cx="1828800" cy="1874520"/>
          </a:xfrm>
          <a:prstGeom prst="roundRect">
            <a:avLst>
              <a:gd name="adj" fmla="val 3000"/>
            </a:avLst>
          </a:prstGeom>
          <a:solidFill>
            <a:srgbClr val="FFE4DF"/>
          </a:solidFill>
          <a:ln w="20320">
            <a:solidFill>
              <a:srgbClr val="C4382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023860" y="2203704"/>
            <a:ext cx="1417320" cy="1106424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2" name="Image 1" descr="C:\Users\user\Desktop\인권교육\assets\cards\dang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51292" y="2231136"/>
            <a:ext cx="1362456" cy="10515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927848" y="352044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9875520" y="2057400"/>
            <a:ext cx="1828800" cy="1874520"/>
          </a:xfrm>
          <a:prstGeom prst="roundRect">
            <a:avLst>
              <a:gd name="adj" fmla="val 3000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10081260" y="2203704"/>
            <a:ext cx="1417320" cy="1106424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6" name="Image 2" descr="C:\Users\user\Desktop\인권교육\assets\cards\help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08692" y="2231136"/>
            <a:ext cx="1362456" cy="105156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985248" y="3520440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5806440" y="47091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위험하거나 불편하면 혼자 참지 않습니다.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 진행 흐름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존중과 안전을 카드로 구분합니다.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DFF5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복습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카드를 보고 하나 고르기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67558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F6EAD7"/>
          </a:solidFill>
          <a:ln w="19050">
            <a:solidFill>
              <a:srgbClr val="8A5A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3862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3862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 알기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3862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물건·몸·마음은 허락이 필요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6749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E4F7DD"/>
          </a:solidFill>
          <a:ln w="19050">
            <a:solidFill>
              <a:srgbClr val="1683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3053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23053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안전·위험 분류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23053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카드를 빨강·초록에 놓기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85939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E4EDFF"/>
          </a:solidFill>
          <a:ln w="19050">
            <a:solidFill>
              <a:srgbClr val="285E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2243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32243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요청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2243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 말하기·카드 들기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5130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9050">
            <a:solidFill>
              <a:srgbClr val="1683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1434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41434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41434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몸은 소중해요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5285232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포인트: 위험 신호 구분, 도움 요청 행동 가능 여부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안전·위험 분류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카드를 보고 초록 또는 빨강으로 나눕니다.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05740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233172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초록 바구니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선택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743200" y="2331720"/>
            <a:ext cx="1280160" cy="1325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0320">
            <a:solidFill>
              <a:srgbClr val="1683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48940" y="2478024"/>
            <a:ext cx="868680" cy="55778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5" name="Image 0" descr="C:\Users\user\Desktop\인권교육\assets\cards\ansAskPermissi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76372" y="2505456"/>
            <a:ext cx="813816" cy="5029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2852928" y="324612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물어봐요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206240" y="3383280"/>
            <a:ext cx="1280160" cy="1325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0320">
            <a:solidFill>
              <a:srgbClr val="16833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411980" y="3529584"/>
            <a:ext cx="868680" cy="55778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9" name="Image 1" descr="C:\Users\user\Desktop\인권교육\assets\cards\ansTellTeacher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39412" y="3557016"/>
            <a:ext cx="813816" cy="50292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315968" y="42976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선생님께 말해요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72200" y="2057400"/>
            <a:ext cx="5029200" cy="3063240"/>
          </a:xfrm>
          <a:prstGeom prst="roundRect">
            <a:avLst>
              <a:gd name="adj" fmla="val 2388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19088" y="2331720"/>
            <a:ext cx="1508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빨강 바구니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선택</a:t>
            </a:r>
            <a:endParaRPr lang="en-US" sz="1700" dirty="0"/>
          </a:p>
        </p:txBody>
      </p:sp>
      <p:sp>
        <p:nvSpPr>
          <p:cNvPr id="23" name="Shape 19"/>
          <p:cNvSpPr/>
          <p:nvPr/>
        </p:nvSpPr>
        <p:spPr>
          <a:xfrm>
            <a:off x="8183880" y="2331720"/>
            <a:ext cx="1280160" cy="1325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0320">
            <a:solidFill>
              <a:srgbClr val="C4382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89620" y="2478024"/>
            <a:ext cx="868680" cy="55778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5" name="Image 2" descr="C:\Users\user\Desktop\인권교육\assets\cards\ansUseNoAsk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17052" y="2505456"/>
            <a:ext cx="813816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293608" y="324612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묻지 않고 쓴다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646920" y="3383280"/>
            <a:ext cx="1280160" cy="13258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20320">
            <a:solidFill>
              <a:srgbClr val="C43828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852660" y="3529584"/>
            <a:ext cx="868680" cy="557784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9" name="Image 3" descr="C:\Users\user\Desktop\인권교육\assets\cards\ansFollowStranger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80092" y="3557016"/>
            <a:ext cx="813816" cy="50292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756648" y="4297680"/>
            <a:ext cx="1060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따라가요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요청 연습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말하기, 카드 들기, 선생님 찾기를 모두 연습합니다.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834640" cy="2697480"/>
          </a:xfrm>
          <a:prstGeom prst="roundRect">
            <a:avLst>
              <a:gd name="adj" fmla="val 2034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" y="2112264"/>
            <a:ext cx="2423160" cy="1929384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3" name="Image 0" descr="C:\Users\user\Desktop\인권교육\assets\cards\lostStree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0412" y="2139696"/>
            <a:ext cx="2368296" cy="1874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6968" y="42519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길을 잃었어요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069080" y="2103120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3400" dirty="0"/>
          </a:p>
        </p:txBody>
      </p:sp>
      <p:sp>
        <p:nvSpPr>
          <p:cNvPr id="16" name="Shape 13"/>
          <p:cNvSpPr/>
          <p:nvPr/>
        </p:nvSpPr>
        <p:spPr>
          <a:xfrm>
            <a:off x="4114800" y="306324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6240" y="325069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카드 들기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114800" y="3886200"/>
            <a:ext cx="2057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06240" y="40736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 찾기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543800" y="2176272"/>
            <a:ext cx="2331720" cy="2240280"/>
          </a:xfrm>
          <a:prstGeom prst="roundRect">
            <a:avLst>
              <a:gd name="adj" fmla="val 2449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49540" y="2322576"/>
            <a:ext cx="1920240" cy="1472184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2" name="Image 1" descr="C:\Users\user\Desktop\인권교육\assets\cards\help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6972" y="2350008"/>
            <a:ext cx="1865376" cy="141732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53528" y="4005072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벨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804672" y="534924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요청 행동이 나오면 즉시 칭찬하고 안전한 사람에게 연결합니다.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이용자별 지원 포인트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안전·위험은 색, 그림, 행동으로 확인합니다.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2148840"/>
            <a:ext cx="10607040" cy="920496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D6DD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26771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DFF5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7744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 소통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86000" y="2267712"/>
            <a:ext cx="3886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안전한지, 왜 위험한지 한 가지 말하기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91072" y="2267712"/>
            <a:ext cx="489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판단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124200"/>
            <a:ext cx="10607040" cy="920496"/>
          </a:xfrm>
          <a:prstGeom prst="roundRect">
            <a:avLst>
              <a:gd name="adj" fmla="val 3974"/>
            </a:avLst>
          </a:prstGeom>
          <a:solidFill>
            <a:srgbClr val="F7FBF8"/>
          </a:solidFill>
          <a:ln w="12700">
            <a:solidFill>
              <a:srgbClr val="D6DD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" y="324307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4F7DD"/>
          </a:solidFill>
          <a:ln w="19050">
            <a:solidFill>
              <a:srgbClr val="1683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35280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 자료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286000" y="3243072"/>
            <a:ext cx="3886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안전/위험 색 카드와 그림 카드로 분류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91072" y="3243072"/>
            <a:ext cx="489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 또는 그림 선택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099560"/>
            <a:ext cx="10607040" cy="920496"/>
          </a:xfrm>
          <a:prstGeom prst="roundRect">
            <a:avLst>
              <a:gd name="adj" fmla="val 3974"/>
            </a:avLst>
          </a:prstGeom>
          <a:solidFill>
            <a:srgbClr val="FFFFFF"/>
          </a:solidFill>
          <a:ln w="12700">
            <a:solidFill>
              <a:srgbClr val="D6DD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1248" y="4218432"/>
            <a:ext cx="1234440" cy="438912"/>
          </a:xfrm>
          <a:prstGeom prst="roundRect">
            <a:avLst>
              <a:gd name="adj" fmla="val 16667"/>
            </a:avLst>
          </a:prstGeom>
          <a:solidFill>
            <a:srgbClr val="E4EDFF"/>
          </a:solidFill>
          <a:ln w="19050">
            <a:solidFill>
              <a:srgbClr val="285E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32816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감각·보조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4218432"/>
            <a:ext cx="3886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카드 들기, 선생님 손짓하기, 짧은 영상 단서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91072" y="4218432"/>
            <a:ext cx="489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비언어 요청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4400" y="5486400"/>
            <a:ext cx="2011680" cy="420624"/>
          </a:xfrm>
          <a:prstGeom prst="roundRect">
            <a:avLst>
              <a:gd name="adj" fmla="val 17391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58698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몸은 소중해요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46120" y="5486400"/>
            <a:ext cx="2788920" cy="420624"/>
          </a:xfrm>
          <a:prstGeom prst="roundRect">
            <a:avLst>
              <a:gd name="adj" fmla="val 17391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37560" y="5586984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위험하면 도움을 요청해요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5836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170432"/>
            <a:ext cx="5669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복습: 표현과 실천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76656" y="2267712"/>
            <a:ext cx="1600200" cy="566928"/>
          </a:xfrm>
          <a:prstGeom prst="roundRect">
            <a:avLst>
              <a:gd name="adj" fmla="val 12903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24414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521208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싫어요. 안 돼요. 도와주세요.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권리와 다른 사람의 권리를 함께 지켜요.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812280" y="1005840"/>
            <a:ext cx="3566160" cy="3401568"/>
          </a:xfrm>
          <a:prstGeom prst="roundRect">
            <a:avLst>
              <a:gd name="adj" fmla="val 1613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18020" y="1152144"/>
            <a:ext cx="3154680" cy="2633472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1" name="Image 0" descr="C:\Users\user\Desktop\인권교육\assets\cards\shie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5452" y="1179576"/>
            <a:ext cx="3099816" cy="2578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22008" y="3995928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가지 단어만 크게 보여 주세요.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 / 싫어요 / 안 돼요 / 도와주세요 / 책임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13232" y="2103120"/>
            <a:ext cx="3840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연습할 말은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가지입니다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777240" y="3794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9684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450592" y="379476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396849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돼요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4114800" y="3794760"/>
            <a:ext cx="1691640" cy="566928"/>
          </a:xfrm>
          <a:prstGeom prst="roundRect">
            <a:avLst>
              <a:gd name="adj" fmla="val 12903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9684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00800" y="1874520"/>
            <a:ext cx="1645920" cy="17373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6540" y="2020824"/>
            <a:ext cx="123444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0" name="Image 0" descr="C:\Users\user\Desktop\인권교육\assets\cards\personalIt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33972" y="2048256"/>
            <a:ext cx="1179576" cy="9144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510528" y="320040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물건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229600" y="1874520"/>
            <a:ext cx="1645920" cy="1737360"/>
          </a:xfrm>
          <a:prstGeom prst="roundRect">
            <a:avLst>
              <a:gd name="adj" fmla="val 3333"/>
            </a:avLst>
          </a:prstGeom>
          <a:solidFill>
            <a:srgbClr val="FFE4DF"/>
          </a:solidFill>
          <a:ln w="20320">
            <a:solidFill>
              <a:srgbClr val="C4382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435340" y="2020824"/>
            <a:ext cx="123444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4" name="Image 1" descr="C:\Users\user\Desktop\인권교육\assets\cards\bodyTou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62772" y="2048256"/>
            <a:ext cx="1179576" cy="914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8339328" y="320040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10058400" y="1874520"/>
            <a:ext cx="1645920" cy="1737360"/>
          </a:xfrm>
          <a:prstGeom prst="roundRect">
            <a:avLst>
              <a:gd name="adj" fmla="val 3333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10264140" y="2020824"/>
            <a:ext cx="123444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8" name="Image 2" descr="C:\Users\user\Desktop\인권교육\assets\cards\photoTaking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291572" y="2048256"/>
            <a:ext cx="1179576" cy="9144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0168128" y="3200400"/>
            <a:ext cx="1426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사진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 진행 흐름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본교육 내용을 쉬운 말과 역할극으로 다시 확인합니다.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DFF5EF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04672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본교육 떠올리기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4672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선택·안전·도움 카드 고르기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67558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E4F7DD"/>
          </a:solidFill>
          <a:ln w="19050">
            <a:solidFill>
              <a:srgbClr val="1683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3862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13862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OX 복습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3862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맞으면 O, 아니면 X 카드 들기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6749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F6EAD7"/>
          </a:solidFill>
          <a:ln w="19050">
            <a:solidFill>
              <a:srgbClr val="8A5A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23053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23053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권리 카드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23053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싫은 것·도움받고 싶은 것 표시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85939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E4EDFF"/>
          </a:solidFill>
          <a:ln w="19050">
            <a:solidFill>
              <a:srgbClr val="285E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2243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32243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역할극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32243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싫어요·안 돼요·도와주세요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5130" y="2084832"/>
            <a:ext cx="2044598" cy="2542032"/>
          </a:xfrm>
          <a:prstGeom prst="roundRect">
            <a:avLst>
              <a:gd name="adj" fmla="val 2683"/>
            </a:avLst>
          </a:prstGeom>
          <a:solidFill>
            <a:srgbClr val="FFFFFF"/>
          </a:solidFill>
          <a:ln w="19050">
            <a:solidFill>
              <a:srgbClr val="8A5A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41434" y="2231136"/>
            <a:ext cx="175199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5분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641434" y="2496312"/>
            <a:ext cx="175199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약속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641434" y="2953512"/>
            <a:ext cx="175199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존중, 다른 사람도 존중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9808" y="5285232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포인트: 거부·요청 표현이 나오는지, 다른 사람의 거부도 존중하는지 봅니다.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OX 복습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쉬운 상황을 듣고 O 또는 X 카드를 듭니다.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005840" y="1965960"/>
            <a:ext cx="2011680" cy="2011680"/>
          </a:xfrm>
          <a:prstGeom prst="ellipse">
            <a:avLst/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240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</a:t>
            </a:r>
            <a:endParaRPr lang="en-US" sz="5800" dirty="0"/>
          </a:p>
        </p:txBody>
      </p:sp>
      <p:sp>
        <p:nvSpPr>
          <p:cNvPr id="13" name="Shape 11"/>
          <p:cNvSpPr/>
          <p:nvPr/>
        </p:nvSpPr>
        <p:spPr>
          <a:xfrm>
            <a:off x="3657600" y="1965960"/>
            <a:ext cx="2011680" cy="2011680"/>
          </a:xfrm>
          <a:prstGeom prst="rect">
            <a:avLst/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224028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</a:t>
            </a:r>
            <a:endParaRPr lang="en-US" sz="58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297680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친구 물건을 쓰고 싶으면 먼저 물어봐요.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싫어도 혼자 참아야 해요.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위험하면 도와주세요라고 알려요.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친구가 싫다고 하면 멈춰요.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오답이 나와도 괜찮아요. 바로 좋은 행동 문장으로 다시 연습합니다.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권리 카드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싫은 것, 도움받고 싶은 것을 고릅니다.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68680" y="192024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240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싫은 것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8720" y="2834640"/>
            <a:ext cx="1325880" cy="512064"/>
          </a:xfrm>
          <a:prstGeom prst="roundRect">
            <a:avLst>
              <a:gd name="adj" fmla="val 14286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298094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88920" y="2834640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8036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마세요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46634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240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도움받고 싶은 것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298094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183880" y="2834640"/>
            <a:ext cx="2057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2980944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선생님께 말할래요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5440680"/>
            <a:ext cx="9235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그림, 단어, 스티커, 손짓으로 표시해도 됩니다.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역할극 연습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 보고 필요한 말을 고릅니다.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13232" y="1965960"/>
            <a:ext cx="1600200" cy="1755648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8972" y="2112264"/>
            <a:ext cx="11887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3" name="Image 0" descr="C:\Users\user\Desktop\인권교육\assets\cards\personalIt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46404" y="2139696"/>
            <a:ext cx="1133856" cy="9326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3310128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물건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487168" y="1965960"/>
            <a:ext cx="1600200" cy="1755648"/>
          </a:xfrm>
          <a:prstGeom prst="roundRect">
            <a:avLst>
              <a:gd name="adj" fmla="val 3429"/>
            </a:avLst>
          </a:prstGeom>
          <a:solidFill>
            <a:srgbClr val="FFE4DF"/>
          </a:solidFill>
          <a:ln w="20320">
            <a:solidFill>
              <a:srgbClr val="C4382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92908" y="2112264"/>
            <a:ext cx="11887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7" name="Image 1" descr="C:\Users\user\Desktop\인권교육\assets\cards\bodyTouch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20340" y="2139696"/>
            <a:ext cx="1133856" cy="9326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596896" y="3310128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261104" y="1965960"/>
            <a:ext cx="1600200" cy="1755648"/>
          </a:xfrm>
          <a:prstGeom prst="roundRect">
            <a:avLst>
              <a:gd name="adj" fmla="val 3429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66844" y="2112264"/>
            <a:ext cx="11887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1" name="Image 2" descr="C:\Users\user\Desktop\인권교육\assets\cards\lostStree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94276" y="2139696"/>
            <a:ext cx="1133856" cy="9326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70832" y="3310128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길을 잃었어요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035040" y="1965960"/>
            <a:ext cx="1600200" cy="1755648"/>
          </a:xfrm>
          <a:prstGeom prst="roundRect">
            <a:avLst>
              <a:gd name="adj" fmla="val 3429"/>
            </a:avLst>
          </a:prstGeom>
          <a:solidFill>
            <a:srgbClr val="F6EAD7"/>
          </a:solidFill>
          <a:ln w="20320">
            <a:solidFill>
              <a:srgbClr val="8A5A16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40780" y="2112264"/>
            <a:ext cx="118872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5" name="Image 3" descr="C:\Users\user\Desktop\인권교육\assets\cards\ansStop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68212" y="2139696"/>
            <a:ext cx="1133856" cy="93268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144768" y="3310128"/>
            <a:ext cx="1380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싫대요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8229600" y="20574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321040" y="22128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돼요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646920" y="2057400"/>
            <a:ext cx="12344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9738360" y="2212848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8229600" y="285292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321040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9921240" y="2852928"/>
            <a:ext cx="1463040" cy="530352"/>
          </a:xfrm>
          <a:prstGeom prst="roundRect">
            <a:avLst>
              <a:gd name="adj" fmla="val 1379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10012680" y="300837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멈출게요</a:t>
            </a:r>
            <a:endParaRPr lang="en-US" sz="1400" dirty="0"/>
          </a:p>
        </p:txBody>
      </p:sp>
      <p:sp>
        <p:nvSpPr>
          <p:cNvPr id="35" name="Text 29"/>
          <p:cNvSpPr/>
          <p:nvPr/>
        </p:nvSpPr>
        <p:spPr>
          <a:xfrm>
            <a:off x="822960" y="498348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보조자의 지원: 문장을 따라 하거나, 카드만 들어도 즉시 칭찬합니다.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3회기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권리와 책임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권리를 지키는 것처럼 다른 사람의 권리도 지킵니다.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205740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존중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사람도 존중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2194560" cy="530352"/>
          </a:xfrm>
          <a:prstGeom prst="roundRect">
            <a:avLst>
              <a:gd name="adj" fmla="val 1379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04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싫으면 말해요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337560" y="3749040"/>
            <a:ext cx="2331720" cy="530352"/>
          </a:xfrm>
          <a:prstGeom prst="roundRect">
            <a:avLst>
              <a:gd name="adj" fmla="val 1379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29000" y="390448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싫다면 멈춰요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83680" y="1965960"/>
            <a:ext cx="2834640" cy="2697480"/>
          </a:xfrm>
          <a:prstGeom prst="roundRect">
            <a:avLst>
              <a:gd name="adj" fmla="val 2034"/>
            </a:avLst>
          </a:prstGeom>
          <a:solidFill>
            <a:srgbClr val="F6EAD7"/>
          </a:solidFill>
          <a:ln w="20320">
            <a:solidFill>
              <a:srgbClr val="8A5A1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89420" y="2112264"/>
            <a:ext cx="2423160" cy="1929384"/>
          </a:xfrm>
          <a:prstGeom prst="roundRect">
            <a:avLst>
              <a:gd name="adj" fmla="val 1896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8" name="Image 0" descr="C:\Users\user\Desktop\인권교육\assets\cards\respec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6852" y="2139696"/>
            <a:ext cx="2368296" cy="1874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693408" y="4251960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지켜요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6858000" y="5074920"/>
            <a:ext cx="2286000" cy="566928"/>
          </a:xfrm>
          <a:prstGeom prst="roundRect">
            <a:avLst>
              <a:gd name="adj" fmla="val 12903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49440" y="524865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약속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인쇄용 카드 1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단어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196596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130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22960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소중해요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47288" y="196596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DFF5EF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93592" y="2130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611880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골라요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36208" y="196596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82512" y="2130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00800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너도 소중해요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025128" y="196596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13055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189720" y="2569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다치지 않아요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8368" y="347472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22960" y="4078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멈춰요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447288" y="347472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93592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611880" y="4078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36208" y="347472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400800" y="4078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9025128" y="3474720"/>
            <a:ext cx="242316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71432" y="36393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책임</a:t>
            </a:r>
            <a:endParaRPr lang="en-US" sz="1900" dirty="0"/>
          </a:p>
        </p:txBody>
      </p:sp>
      <p:sp>
        <p:nvSpPr>
          <p:cNvPr id="34" name="Text 32"/>
          <p:cNvSpPr/>
          <p:nvPr/>
        </p:nvSpPr>
        <p:spPr>
          <a:xfrm>
            <a:off x="9189720" y="40782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사람도 지켜요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인쇄용 카드 2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카드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49808" y="1847088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548" y="1993392"/>
            <a:ext cx="26517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3" name="Image 0" descr="C:\Users\user\Desktop\인권교육\assets\cards\foo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82980" y="2020824"/>
            <a:ext cx="2596896" cy="9144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59536" y="31729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먹을 것을 골라요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61688" y="1847088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67428" y="1993392"/>
            <a:ext cx="26517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17" name="Image 1" descr="C:\Users\user\Desktop\인권교육\assets\cards\clothes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94860" y="2020824"/>
            <a:ext cx="2596896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471416" y="31729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입을 것을 골라요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973568" y="1847088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179308" y="1993392"/>
            <a:ext cx="26517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1" name="Image 2" descr="C:\Users\user\Desktop\인권교육\assets\cards\sea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06740" y="2020824"/>
            <a:ext cx="2596896" cy="9144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083296" y="31729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앉을 자리를 골라요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49808" y="3904488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20320">
            <a:solidFill>
              <a:srgbClr val="0F766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55548" y="4050792"/>
            <a:ext cx="26517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5" name="Image 3" descr="C:\Users\user\Desktop\인권교육\assets\cards\activity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82980" y="4078224"/>
            <a:ext cx="2596896" cy="9144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9536" y="52303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싶은 활동을 골라요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361688" y="3904488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567428" y="4050792"/>
            <a:ext cx="26517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9" name="Image 4" descr="C:\Users\user\Desktop\인권교육\assets\cards\ansAskPermission.jp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94860" y="4078224"/>
            <a:ext cx="2596896" cy="9144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71416" y="52303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허락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먼저 물어봐요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7973568" y="3904488"/>
            <a:ext cx="3063240" cy="1737360"/>
          </a:xfrm>
          <a:prstGeom prst="roundRect">
            <a:avLst>
              <a:gd name="adj" fmla="val 3158"/>
            </a:avLst>
          </a:prstGeom>
          <a:solidFill>
            <a:srgbClr val="E4EDFF"/>
          </a:solidFill>
          <a:ln w="20320">
            <a:solidFill>
              <a:srgbClr val="285EA8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179308" y="4050792"/>
            <a:ext cx="2651760" cy="969264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33" name="Image 5" descr="C:\Users\user\Desktop\인권교육\assets\cards\help.jp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06740" y="4078224"/>
            <a:ext cx="2596896" cy="91440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083296" y="5230368"/>
            <a:ext cx="2843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인쇄용 카드 3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대처 문장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9202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41832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41832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그만해 주세요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43400" y="19202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돼요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07992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 마세요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909560" y="192024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4152" y="21031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074152" y="25420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선생님, 도와주세요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7240" y="356616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말하기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41832" y="4187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불편해요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43400" y="356616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E4F7DD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07992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507992" y="4187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 / 119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909560" y="3566160"/>
            <a:ext cx="29718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25400">
            <a:solidFill>
              <a:srgbClr val="1683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74152" y="37490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683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피하기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074152" y="418795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안전한 곳으로 가요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참여자용 쉬운 활동지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빈칸은 말, 그림, 스티커로 채울 수 있습니다.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822960" y="182880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7780">
            <a:solidFill>
              <a:srgbClr val="D6DD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19933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24128" y="235915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내가 고른 것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 / 옷 / 활동 / 자리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7780">
            <a:solidFill>
              <a:srgbClr val="D6DD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9339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73368" y="235915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몸과 마음의 신호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좋아요 / 싫어요 / 불편해요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22960" y="370332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7780">
            <a:solidFill>
              <a:srgbClr val="D6DD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8679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 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24128" y="423367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요청 연습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선생님 / 가족 / 112 / 119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480060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7780">
            <a:solidFill>
              <a:srgbClr val="D6DD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38679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활동지 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73368" y="4233672"/>
            <a:ext cx="4251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나의 권리 카드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/ 안전 / 존중 / 도움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역할극 상황 예시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상황을 짧게 보여주고 필요한 말을 연습합니다.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86384" y="1929384"/>
            <a:ext cx="841248" cy="384048"/>
          </a:xfrm>
          <a:prstGeom prst="roundRect">
            <a:avLst>
              <a:gd name="adj" fmla="val 19048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116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18745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누군가 내 물건을 말없이 가져가려고 해요.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355080" y="182880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9842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돼요. 먼저 물어봐 주세요.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6384" y="2980944"/>
            <a:ext cx="841248" cy="384048"/>
          </a:xfrm>
          <a:prstGeom prst="roundRect">
            <a:avLst>
              <a:gd name="adj" fmla="val 19048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" y="306324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83080" y="2926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몸을 만지려고 해서 불편해요.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355080" y="288036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0358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싫어요. 하지 마세요.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" y="4032504"/>
            <a:ext cx="841248" cy="384048"/>
          </a:xfrm>
          <a:prstGeom prst="roundRect">
            <a:avLst>
              <a:gd name="adj" fmla="val 19048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411480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97764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길을 잃거나 무서운 일이 생겼어요.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55080" y="393192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4087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도와주세요. 선생님을 불러 주세요.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6384" y="5084064"/>
            <a:ext cx="841248" cy="384048"/>
          </a:xfrm>
          <a:prstGeom prst="roundRect">
            <a:avLst>
              <a:gd name="adj" fmla="val 19048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7824" y="516636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783080" y="502920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친구가 싫다고 말했어요.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355080" y="4983480"/>
            <a:ext cx="4023360" cy="530352"/>
          </a:xfrm>
          <a:prstGeom prst="roundRect">
            <a:avLst>
              <a:gd name="adj" fmla="val 13793"/>
            </a:avLst>
          </a:prstGeom>
          <a:solidFill>
            <a:srgbClr val="F6EAD7"/>
          </a:solidFill>
          <a:ln w="25400">
            <a:solidFill>
              <a:srgbClr val="8A5A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46520" y="5138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5A1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알겠어. 멈출게.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DF7"/>
          </a:solidFill>
          <a:ln w="12700">
            <a:solidFill>
              <a:srgbClr val="FFFDF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DFF5EF">
              <a:alpha val="76000"/>
            </a:srgbClr>
          </a:solidFill>
          <a:ln w="12700">
            <a:solidFill>
              <a:srgbClr val="DFF5E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200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555480" y="256032"/>
            <a:ext cx="210312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5240">
            <a:solidFill>
              <a:srgbClr val="D6DD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65792" y="36576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말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469880" y="3200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존중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30352" y="84124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문장</a:t>
            </a:r>
            <a:endParaRPr lang="en-US" sz="29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끝에서 함께 말하거나 카드를 짚습니다.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0352" y="647395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2615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성인 발달장애인 인권교육 예습·복습 진행자료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19659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나도 존중,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사람도 존중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868680" y="3794760"/>
            <a:ext cx="1234440" cy="512064"/>
          </a:xfrm>
          <a:prstGeom prst="roundRect">
            <a:avLst>
              <a:gd name="adj" fmla="val 14286"/>
            </a:avLst>
          </a:prstGeom>
          <a:solidFill>
            <a:srgbClr val="FFE4D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41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싫어요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59152" y="3794760"/>
            <a:ext cx="1234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5400">
            <a:solidFill>
              <a:srgbClr val="C43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3941064"/>
            <a:ext cx="1051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38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 돼요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3794760"/>
            <a:ext cx="1645920" cy="512064"/>
          </a:xfrm>
          <a:prstGeom prst="roundRect">
            <a:avLst>
              <a:gd name="adj" fmla="val 14286"/>
            </a:avLst>
          </a:prstGeom>
          <a:solidFill>
            <a:srgbClr val="E4EDFF"/>
          </a:solidFill>
          <a:ln w="25400">
            <a:solidFill>
              <a:srgbClr val="285E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39410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85E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도와주세요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83680" y="1828800"/>
            <a:ext cx="2103120" cy="2057400"/>
          </a:xfrm>
          <a:prstGeom prst="roundRect">
            <a:avLst>
              <a:gd name="adj" fmla="val 2667"/>
            </a:avLst>
          </a:prstGeom>
          <a:solidFill>
            <a:srgbClr val="E4F7DD"/>
          </a:solidFill>
          <a:ln w="20320">
            <a:solidFill>
              <a:srgbClr val="1683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89420" y="1975104"/>
            <a:ext cx="1691640" cy="1289304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0" name="Image 0" descr="C:\Users\user\Desktop\인권교육\assets\cards\completeChec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6852" y="2002536"/>
            <a:ext cx="1636776" cy="12344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693408" y="347472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 잘했어요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9052560" y="1828800"/>
            <a:ext cx="2103120" cy="2057400"/>
          </a:xfrm>
          <a:prstGeom prst="roundRect">
            <a:avLst>
              <a:gd name="adj" fmla="val 2667"/>
            </a:avLst>
          </a:prstGeom>
          <a:solidFill>
            <a:srgbClr val="F6EAD7"/>
          </a:solidFill>
          <a:ln w="20320">
            <a:solidFill>
              <a:srgbClr val="8A5A1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258300" y="1975104"/>
            <a:ext cx="1691640" cy="1289304"/>
          </a:xfrm>
          <a:prstGeom prst="roundRect">
            <a:avLst>
              <a:gd name="adj" fmla="val 2837"/>
            </a:avLst>
          </a:prstGeom>
          <a:solidFill>
            <a:srgbClr val="FFFFFF"/>
          </a:solidFill>
          <a:ln w="15240">
            <a:solidFill>
              <a:srgbClr val="17211F"/>
            </a:solidFill>
            <a:prstDash val="solid"/>
          </a:ln>
        </p:spPr>
      </p:sp>
      <p:pic>
        <p:nvPicPr>
          <p:cNvPr id="24" name="Image 1" descr="C:\Users\user\Desktop\인권교육\assets\cards\respec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285732" y="2002536"/>
            <a:ext cx="1636776" cy="123444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162288" y="347472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지켜요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82296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1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진행자는 참여 방식보다 표현이 나온 순간을 크게 강화합니다.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주간보호 이용자 인권교육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나의 인권 이해하기</dc:title>
  <dc:subject>성인 발달장애인 인권교육 예습·복습 진행자료</dc:subject>
  <dc:creator>Codex</dc:creator>
  <cp:lastModifiedBy>Codex</cp:lastModifiedBy>
  <cp:revision>1</cp:revision>
  <dcterms:created xsi:type="dcterms:W3CDTF">2026-05-01T23:22:05Z</dcterms:created>
  <dcterms:modified xsi:type="dcterms:W3CDTF">2026-05-01T23:22:05Z</dcterms:modified>
</cp:coreProperties>
</file>